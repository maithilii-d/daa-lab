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BM Plex Sans" panose="020B0503050203000203" pitchFamily="34" charset="0"/>
      <p:regular r:id="rId17"/>
      <p:bold r:id="rId18"/>
    </p:embeddedFont>
    <p:embeddedFont>
      <p:font typeface="IBM Plex Sans Bold" panose="020B0803050203000203" charset="0"/>
      <p:regular r:id="rId19"/>
    </p:embeddedFont>
    <p:embeddedFont>
      <p:font typeface="IBM Plex Sans SemiBold" panose="020B0703050203000203" pitchFamily="34" charset="0"/>
      <p:bold r:id="rId20"/>
    </p:embeddedFont>
    <p:embeddedFont>
      <p:font typeface="Space Grotesk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8BA"/>
    <a:srgbClr val="F6D96B"/>
    <a:srgbClr val="E94B55"/>
    <a:srgbClr val="A2CF51"/>
    <a:srgbClr val="F7F4E8"/>
    <a:srgbClr val="4D5B42"/>
    <a:srgbClr val="F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896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0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2">
            <a:extLst>
              <a:ext uri="{FF2B5EF4-FFF2-40B4-BE49-F238E27FC236}">
                <a16:creationId xmlns:a16="http://schemas.microsoft.com/office/drawing/2014/main" id="{335A0E4F-4F78-9081-EF31-819F2459C35C}"/>
              </a:ext>
            </a:extLst>
          </p:cNvPr>
          <p:cNvSpPr/>
          <p:nvPr/>
        </p:nvSpPr>
        <p:spPr>
          <a:xfrm>
            <a:off x="2673533" y="1479415"/>
            <a:ext cx="5775660" cy="1162093"/>
          </a:xfrm>
          <a:prstGeom prst="rect">
            <a:avLst/>
          </a:prstGeom>
          <a:solidFill>
            <a:srgbClr val="E94B55"/>
          </a:solidFill>
          <a:ln/>
        </p:spPr>
        <p:txBody>
          <a:bodyPr/>
          <a:lstStyle/>
          <a:p>
            <a:endParaRPr lang="en-IN" dirty="0">
              <a:solidFill>
                <a:srgbClr val="A2CF5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195932" y="868933"/>
            <a:ext cx="7781742" cy="56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kern="100" spc="150" dirty="0">
                <a:solidFill>
                  <a:srgbClr val="B8D8B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DESIGN AND ANALYSIS OF ALGORITHMS (DAA)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920471" y="1738011"/>
            <a:ext cx="577566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MERGE SORT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699368" y="2767435"/>
            <a:ext cx="5012609" cy="747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600" kern="100" spc="-40" dirty="0">
                <a:solidFill>
                  <a:srgbClr val="B8D8B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- Divide and Conquer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 flipV="1">
            <a:off x="6607091" y="3387090"/>
            <a:ext cx="5197162" cy="45719"/>
          </a:xfrm>
          <a:prstGeom prst="roundRect">
            <a:avLst>
              <a:gd name="adj" fmla="val 49999"/>
            </a:avLst>
          </a:prstGeom>
          <a:solidFill>
            <a:srgbClr val="B8D8BA"/>
          </a:solidFill>
          <a:ln/>
        </p:spPr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A6E400-5F10-2AD5-F2EC-1E9AE974BC5A}"/>
              </a:ext>
            </a:extLst>
          </p:cNvPr>
          <p:cNvGrpSpPr/>
          <p:nvPr/>
        </p:nvGrpSpPr>
        <p:grpSpPr>
          <a:xfrm>
            <a:off x="-615821" y="4272144"/>
            <a:ext cx="5775661" cy="1703772"/>
            <a:chOff x="457189" y="2628900"/>
            <a:chExt cx="11277318" cy="1436291"/>
          </a:xfrm>
        </p:grpSpPr>
        <p:sp>
          <p:nvSpPr>
            <p:cNvPr id="6" name="Text 4"/>
            <p:cNvSpPr/>
            <p:nvPr/>
          </p:nvSpPr>
          <p:spPr>
            <a:xfrm>
              <a:off x="457189" y="2628900"/>
              <a:ext cx="11277318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2000" dirty="0">
                  <a:solidFill>
                    <a:srgbClr val="F7F4E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38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6D96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12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E94B55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27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7F4E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43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B8D8BA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9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6D96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31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E94B55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18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7F4E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25</a:t>
              </a:r>
              <a:endParaRPr lang="en-US" sz="2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57189" y="3134995"/>
              <a:ext cx="11277318" cy="4266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2400" dirty="0">
                  <a:solidFill>
                    <a:srgbClr val="F6D96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↓</a:t>
              </a:r>
              <a:endParaRPr lang="en-US" sz="2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7189" y="3709591"/>
              <a:ext cx="11277318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2000" dirty="0">
                  <a:solidFill>
                    <a:srgbClr val="B8D8BA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9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6D96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12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E94B55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18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7F4E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25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B8D8BA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27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6D96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31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E94B55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38</a:t>
              </a:r>
              <a:r>
                <a:rPr lang="en-US" sz="20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</a:t>
              </a:r>
              <a:r>
                <a:rPr lang="en-US" sz="2000" dirty="0">
                  <a:solidFill>
                    <a:srgbClr val="F7F4E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43</a:t>
              </a:r>
              <a:endParaRPr lang="en-US" sz="20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9383474" y="3486464"/>
            <a:ext cx="2808526" cy="42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B8D8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Divide. Conquer. Combine.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13BEA-9415-3933-E9D3-19B8CC136916}"/>
              </a:ext>
            </a:extLst>
          </p:cNvPr>
          <p:cNvSpPr txBox="1"/>
          <p:nvPr/>
        </p:nvSpPr>
        <p:spPr>
          <a:xfrm>
            <a:off x="7032162" y="4642871"/>
            <a:ext cx="4755502" cy="965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IBM Plex Sans" panose="020B0503050203000203" pitchFamily="34" charset="0"/>
              </a:rPr>
              <a:t>Presented by – Maithili Dafale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IBM Plex Sans" panose="020B0503050203000203" pitchFamily="34" charset="0"/>
              </a:rPr>
              <a:t>PRN – 25070521106      Batch – ‘B’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D95EBD-1310-F090-FA5E-C9387A37F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191" y="6423234"/>
            <a:ext cx="1537809" cy="3740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065450-1867-F98C-2CF1-DB97E7583E1E}"/>
              </a:ext>
            </a:extLst>
          </p:cNvPr>
          <p:cNvSpPr txBox="1"/>
          <p:nvPr/>
        </p:nvSpPr>
        <p:spPr>
          <a:xfrm>
            <a:off x="8288693" y="6216863"/>
            <a:ext cx="4227796" cy="412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PPT generated using Gamma AI</a:t>
            </a:r>
            <a:endParaRPr lang="en-US" sz="1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0718E-6CE3-1822-18E8-0E8582D1F9DC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788"/>
            <a:ext cx="1173450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kern="100" spc="150" dirty="0">
                <a:solidFill>
                  <a:srgbClr val="366339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801240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600" b="1" kern="100" spc="-72" dirty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WHY SORTING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560810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B8D8BA"/>
          </a:solidFill>
          <a:ln w="12700">
            <a:solidFill>
              <a:srgbClr val="D3CE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308" y="1641773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189" y="2045633"/>
            <a:ext cx="355591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Sorting arranges elements in ascending or descending order.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17892" y="1560810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B8D8BA"/>
          </a:solidFill>
          <a:ln w="12700">
            <a:solidFill>
              <a:srgbClr val="D3CE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2012" y="1641773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17892" y="2045633"/>
            <a:ext cx="355591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helps organise data for searching, processing and analysis.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78595" y="1560810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B8D8BA"/>
          </a:solidFill>
          <a:ln w="12700">
            <a:solidFill>
              <a:srgbClr val="D3CE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15" y="1641773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78595" y="2045633"/>
            <a:ext cx="355591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Efficient sorting algorithms are valuable for large datasets.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189" y="3487580"/>
            <a:ext cx="3454314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3763" y="4088309"/>
            <a:ext cx="3454314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implement Merge Sort in C to arrange an integer array in non-decreasing (ascending) order using divide and conquer.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263669" y="3210113"/>
            <a:ext cx="3557623" cy="2328962"/>
          </a:xfrm>
          <a:prstGeom prst="roundRect">
            <a:avLst>
              <a:gd name="adj" fmla="val 491"/>
            </a:avLst>
          </a:prstGeom>
          <a:noFill/>
          <a:ln w="25399">
            <a:solidFill>
              <a:srgbClr val="D3CE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6800" y="3594663"/>
            <a:ext cx="29463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Input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90665" y="4563582"/>
            <a:ext cx="3406939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[38, 12, 27, 43, 9, 31, 18, 25]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78595" y="3210113"/>
            <a:ext cx="3555912" cy="2328962"/>
          </a:xfrm>
          <a:prstGeom prst="roundRect">
            <a:avLst>
              <a:gd name="adj" fmla="val 491"/>
            </a:avLst>
          </a:prstGeom>
          <a:noFill/>
          <a:ln w="25399">
            <a:solidFill>
              <a:srgbClr val="D3CE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4187" y="3592066"/>
            <a:ext cx="29463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b="1" kern="100" spc="-56" dirty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Expected output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02715" y="4533187"/>
            <a:ext cx="345431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[9, 12, 18, 25, 27, 31, 38, 43]</a:t>
            </a:r>
            <a:endParaRPr lang="en-US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F4BDF7-5E02-0DD7-1C42-2768EA56B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486" y="6476987"/>
            <a:ext cx="1212979" cy="30482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A0E143B-6037-2369-2F23-986F1BA641A9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788"/>
            <a:ext cx="1173450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kern="100" spc="150" dirty="0">
                <a:solidFill>
                  <a:srgbClr val="B8D8B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1382045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600" b="1" kern="100" spc="-72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DIVIDE. CONQUER. COMBINE.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2457687"/>
            <a:ext cx="3555911" cy="2026741"/>
          </a:xfrm>
          <a:prstGeom prst="roundRect">
            <a:avLst>
              <a:gd name="adj" fmla="val 564"/>
            </a:avLst>
          </a:prstGeom>
          <a:solidFill>
            <a:srgbClr val="B8D8BA"/>
          </a:solidFill>
          <a:ln/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C994DFC-50D4-52FA-3C73-DC817D486071}"/>
              </a:ext>
            </a:extLst>
          </p:cNvPr>
          <p:cNvGrpSpPr/>
          <p:nvPr/>
        </p:nvGrpSpPr>
        <p:grpSpPr>
          <a:xfrm>
            <a:off x="800080" y="2457688"/>
            <a:ext cx="11048723" cy="2026741"/>
            <a:chOff x="685783" y="1560810"/>
            <a:chExt cx="11048723" cy="2026741"/>
          </a:xfrm>
        </p:grpSpPr>
        <p:sp>
          <p:nvSpPr>
            <p:cNvPr id="7" name="Shape 5"/>
            <p:cNvSpPr/>
            <p:nvPr/>
          </p:nvSpPr>
          <p:spPr>
            <a:xfrm>
              <a:off x="4317892" y="1560810"/>
              <a:ext cx="3555911" cy="2026741"/>
            </a:xfrm>
            <a:prstGeom prst="roundRect">
              <a:avLst>
                <a:gd name="adj" fmla="val 564"/>
              </a:avLst>
            </a:prstGeom>
            <a:solidFill>
              <a:srgbClr val="F6D96B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8178595" y="1560810"/>
              <a:ext cx="3555911" cy="2026741"/>
            </a:xfrm>
            <a:prstGeom prst="roundRect">
              <a:avLst>
                <a:gd name="adj" fmla="val 564"/>
              </a:avLst>
            </a:prstGeom>
            <a:solidFill>
              <a:srgbClr val="E94B55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685783" y="1806555"/>
              <a:ext cx="3098722" cy="408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2800" b="1" kern="100" spc="-56" dirty="0">
                  <a:solidFill>
                    <a:srgbClr val="000000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DIVIDE</a:t>
              </a:r>
              <a:endParaRPr lang="en-US" sz="2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85783" y="2457688"/>
              <a:ext cx="3098722" cy="604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Split the array recursively into two halves.</a:t>
              </a:r>
              <a:endParaRPr lang="en-US" sz="17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46486" y="1806555"/>
              <a:ext cx="3098722" cy="408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2800" b="1" kern="100" spc="-56" dirty="0">
                  <a:solidFill>
                    <a:srgbClr val="000000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CONQUER</a:t>
              </a:r>
              <a:endParaRPr lang="en-US" sz="2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46486" y="2457688"/>
              <a:ext cx="3098722" cy="906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Sort the smaller subarrays until each contains zero or one element.</a:t>
              </a:r>
              <a:endParaRPr lang="en-US" sz="17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407190" y="1806555"/>
              <a:ext cx="3098722" cy="408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2800" b="1" kern="100" spc="-56" dirty="0">
                  <a:solidFill>
                    <a:srgbClr val="101110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COMBINE</a:t>
              </a:r>
              <a:endParaRPr lang="en-US" sz="2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407190" y="2457688"/>
              <a:ext cx="3098722" cy="604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700" dirty="0">
                  <a:solidFill>
                    <a:srgbClr val="10111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Merge the sorted subarrays into a single sorted array.</a:t>
              </a:r>
              <a:endParaRPr lang="en-US" sz="17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457189" y="5034310"/>
            <a:ext cx="1127731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subarray containing zero or one element is already sorted. For an odd number of elements, the two halves may differ in size by one.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4918" y="6523633"/>
            <a:ext cx="306777" cy="211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46EE69-43F3-D0A8-F632-DE2B3755C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191" y="6423234"/>
            <a:ext cx="1537809" cy="3740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210F21-A8A2-0730-8F32-709A38CA1E07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78439"/>
            <a:ext cx="1173450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kern="100" spc="150" dirty="0">
                <a:solidFill>
                  <a:srgbClr val="4D5B4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 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250" kern="100" spc="150" dirty="0">
              <a:solidFill>
                <a:srgbClr val="4D5B42"/>
              </a:solidFill>
              <a:latin typeface="IBM Plex Sans SemiBold" pitchFamily="34" charset="0"/>
              <a:ea typeface="IBM Plex Sans SemiBold" pitchFamily="34" charset="-122"/>
              <a:cs typeface="IBM Plex Sans Semi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1350" y="632611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b="1" kern="100" spc="-72" dirty="0">
                <a:solidFill>
                  <a:srgbClr val="4D5B4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DIVISION PROCESS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541623"/>
            <a:ext cx="548626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kern="100" spc="150" dirty="0"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DIVIDE 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73403" y="5150227"/>
            <a:ext cx="43933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011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[31]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2405" y="1578676"/>
            <a:ext cx="548626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kern="100" spc="150" dirty="0"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COMBINE ↑</a:t>
            </a:r>
            <a:endParaRPr lang="en-US" sz="16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53AB122-F506-2503-7D37-A9494719A5EC}"/>
              </a:ext>
            </a:extLst>
          </p:cNvPr>
          <p:cNvGrpSpPr/>
          <p:nvPr/>
        </p:nvGrpSpPr>
        <p:grpSpPr>
          <a:xfrm>
            <a:off x="6227513" y="5079017"/>
            <a:ext cx="5486263" cy="704288"/>
            <a:chOff x="6248244" y="2036332"/>
            <a:chExt cx="5486263" cy="704288"/>
          </a:xfrm>
        </p:grpSpPr>
        <p:sp>
          <p:nvSpPr>
            <p:cNvPr id="40" name="Text 38"/>
            <p:cNvSpPr/>
            <p:nvPr/>
          </p:nvSpPr>
          <p:spPr>
            <a:xfrm>
              <a:off x="6248244" y="2036332"/>
              <a:ext cx="5486263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FINAL MERGE · [12, 27, 38, 43] + [9, 18, 25, 31]</a:t>
              </a:r>
              <a:endParaRPr lang="en-US" sz="12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6248244" y="2303760"/>
              <a:ext cx="5486263" cy="436860"/>
            </a:xfrm>
            <a:prstGeom prst="rect">
              <a:avLst/>
            </a:prstGeom>
            <a:solidFill>
              <a:srgbClr val="A2CF51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6324442" y="2385040"/>
              <a:ext cx="5410065" cy="2844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[9, 12, 18, 25, 27, 31, 38, 43]</a:t>
              </a:r>
              <a:endParaRPr lang="en-US" sz="16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E0BD9C9-D5F5-52C0-E260-1EF59997A4CB}"/>
              </a:ext>
            </a:extLst>
          </p:cNvPr>
          <p:cNvGrpSpPr/>
          <p:nvPr/>
        </p:nvGrpSpPr>
        <p:grpSpPr>
          <a:xfrm>
            <a:off x="6227516" y="3660807"/>
            <a:ext cx="5486263" cy="1049015"/>
            <a:chOff x="6248244" y="2985021"/>
            <a:chExt cx="5486263" cy="1049015"/>
          </a:xfrm>
        </p:grpSpPr>
        <p:sp>
          <p:nvSpPr>
            <p:cNvPr id="43" name="Text 41"/>
            <p:cNvSpPr/>
            <p:nvPr/>
          </p:nvSpPr>
          <p:spPr>
            <a:xfrm>
              <a:off x="6248244" y="2985021"/>
              <a:ext cx="5486263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MERGE HALVES</a:t>
              </a:r>
              <a:endParaRPr lang="en-US" sz="12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248244" y="3261320"/>
              <a:ext cx="2666933" cy="772716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6324442" y="3339108"/>
              <a:ext cx="2590735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[12, 38] + [27, 43]</a:t>
              </a:r>
              <a:endParaRPr lang="en-US" sz="12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324442" y="3713440"/>
              <a:ext cx="2590735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[12, 27, 38, 43]</a:t>
              </a:r>
              <a:endParaRPr lang="en-US" sz="14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9067573" y="3261320"/>
              <a:ext cx="2666933" cy="772716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9143771" y="3339108"/>
              <a:ext cx="2590735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[9, 31] + [18, 25]</a:t>
              </a:r>
              <a:endParaRPr lang="en-US" sz="12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9143771" y="3713440"/>
              <a:ext cx="2590735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[9, 18, 25, 31]</a:t>
              </a:r>
              <a:endParaRPr lang="en-US" sz="14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2474E17-5DD8-DB26-A192-2EC46779BE14}"/>
              </a:ext>
            </a:extLst>
          </p:cNvPr>
          <p:cNvGrpSpPr/>
          <p:nvPr/>
        </p:nvGrpSpPr>
        <p:grpSpPr>
          <a:xfrm>
            <a:off x="6227514" y="2230387"/>
            <a:ext cx="5486263" cy="1058510"/>
            <a:chOff x="6248244" y="4268942"/>
            <a:chExt cx="5486263" cy="1058510"/>
          </a:xfrm>
        </p:grpSpPr>
        <p:sp>
          <p:nvSpPr>
            <p:cNvPr id="50" name="Text 48"/>
            <p:cNvSpPr/>
            <p:nvPr/>
          </p:nvSpPr>
          <p:spPr>
            <a:xfrm>
              <a:off x="6248244" y="4268942"/>
              <a:ext cx="5486263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MERGE PAIRS</a:t>
              </a:r>
              <a:endParaRPr lang="en-US" sz="12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248244" y="4554736"/>
              <a:ext cx="1257269" cy="772716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6324442" y="4632524"/>
              <a:ext cx="1181070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[38] + [12]</a:t>
              </a:r>
              <a:endParaRPr lang="en-US" sz="125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6324442" y="500685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[12, 38]</a:t>
              </a:r>
              <a:endParaRPr lang="en-US" sz="14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7657908" y="4554736"/>
              <a:ext cx="1257269" cy="772716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55" name="Text 53"/>
            <p:cNvSpPr/>
            <p:nvPr/>
          </p:nvSpPr>
          <p:spPr>
            <a:xfrm>
              <a:off x="7734107" y="4632524"/>
              <a:ext cx="1181070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[27] + [43]</a:t>
              </a:r>
              <a:endParaRPr lang="en-US" sz="125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7734107" y="500685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[27, 43]</a:t>
              </a:r>
              <a:endParaRPr lang="en-US" sz="14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9067573" y="4554736"/>
              <a:ext cx="1257269" cy="772716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9143771" y="4632524"/>
              <a:ext cx="1181070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[9] + [31]</a:t>
              </a:r>
              <a:endParaRPr lang="en-US" sz="125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9143771" y="500685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[9, 31]</a:t>
              </a:r>
              <a:endParaRPr lang="en-US" sz="14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10477238" y="4554736"/>
              <a:ext cx="1257269" cy="772716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10553436" y="4632524"/>
              <a:ext cx="1181070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[18] + [25]</a:t>
              </a:r>
              <a:endParaRPr lang="en-US" sz="125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10553436" y="500685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[18, 25]</a:t>
              </a:r>
              <a:endParaRPr lang="en-US" sz="1400" dirty="0"/>
            </a:p>
          </p:txBody>
        </p:sp>
      </p:grpSp>
      <p:sp>
        <p:nvSpPr>
          <p:cNvPr id="64" name="Text 62"/>
          <p:cNvSpPr/>
          <p:nvPr/>
        </p:nvSpPr>
        <p:spPr>
          <a:xfrm>
            <a:off x="11884918" y="6523633"/>
            <a:ext cx="306777" cy="211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5D80109-112F-2904-22C1-E40FB2D02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486" y="6476987"/>
            <a:ext cx="1212979" cy="304826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70E02B5E-D72A-7E1F-B25C-91813D1CE91E}"/>
              </a:ext>
            </a:extLst>
          </p:cNvPr>
          <p:cNvGrpSpPr/>
          <p:nvPr/>
        </p:nvGrpSpPr>
        <p:grpSpPr>
          <a:xfrm>
            <a:off x="380991" y="2064098"/>
            <a:ext cx="6088389" cy="3919740"/>
            <a:chOff x="380991" y="2064098"/>
            <a:chExt cx="6113115" cy="3919740"/>
          </a:xfrm>
        </p:grpSpPr>
        <p:sp>
          <p:nvSpPr>
            <p:cNvPr id="5" name="Text 3"/>
            <p:cNvSpPr/>
            <p:nvPr/>
          </p:nvSpPr>
          <p:spPr>
            <a:xfrm>
              <a:off x="457189" y="2064098"/>
              <a:ext cx="5486263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LEVEL 0 · full array</a:t>
              </a:r>
              <a:endParaRPr lang="en-US" sz="125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57189" y="2303760"/>
              <a:ext cx="5486263" cy="401241"/>
            </a:xfrm>
            <a:prstGeom prst="rect">
              <a:avLst/>
            </a:prstGeom>
            <a:solidFill>
              <a:srgbClr val="E94B55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533387" y="2384405"/>
              <a:ext cx="5410065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[38, 12, 27, 43, 9, 31, 18, 25]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7189" y="2949370"/>
              <a:ext cx="5486263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LEVEL 1 · two halves</a:t>
              </a:r>
              <a:endParaRPr lang="en-US" sz="12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7189" y="3225701"/>
              <a:ext cx="2666933" cy="401241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33387" y="3306346"/>
              <a:ext cx="2590735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[38, 12, 27, 43]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76518" y="3225701"/>
              <a:ext cx="2666933" cy="401241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3352716" y="3306346"/>
              <a:ext cx="2590735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[9, 31, 18, 25]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57189" y="3864392"/>
              <a:ext cx="5486263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LEVEL 2 · quarters</a:t>
              </a:r>
              <a:endParaRPr lang="en-US" sz="12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189" y="4147641"/>
              <a:ext cx="1257269" cy="401241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533387" y="422828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[38, 12]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866853" y="4147641"/>
              <a:ext cx="1257269" cy="401241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1943051" y="422828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[27, 43]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276518" y="4147641"/>
              <a:ext cx="1257269" cy="401241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352716" y="422828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[9, 31]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686183" y="4147641"/>
              <a:ext cx="1257269" cy="401241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4762381" y="4228286"/>
              <a:ext cx="1181070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[18, 25]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57189" y="4773944"/>
              <a:ext cx="5486263" cy="222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25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LEVEL 3 · single elements = base cases</a:t>
              </a:r>
              <a:endParaRPr lang="en-US" sz="12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189" y="5069582"/>
              <a:ext cx="515627" cy="40124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533387" y="5150227"/>
              <a:ext cx="439429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[38]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125112" y="5069582"/>
              <a:ext cx="515726" cy="40124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1201311" y="5150227"/>
              <a:ext cx="439528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[12]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793136" y="5069582"/>
              <a:ext cx="515627" cy="40124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1869334" y="5150227"/>
              <a:ext cx="439429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[27]</a:t>
              </a:r>
              <a:endParaRPr lang="en-US" sz="14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461060" y="5069582"/>
              <a:ext cx="515726" cy="40124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2537258" y="5150227"/>
              <a:ext cx="439528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[43]</a:t>
              </a:r>
              <a:endParaRPr lang="en-US" sz="14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129083" y="5069582"/>
              <a:ext cx="515726" cy="40124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3280151" y="5131276"/>
              <a:ext cx="439528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[9]</a:t>
              </a:r>
              <a:endParaRPr lang="en-US" sz="14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465129" y="5069582"/>
              <a:ext cx="515627" cy="40124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541327" y="5150227"/>
              <a:ext cx="439429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[18]</a:t>
              </a:r>
              <a:endParaRPr lang="en-US" sz="14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5133153" y="5069582"/>
              <a:ext cx="667924" cy="40124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5209350" y="5150227"/>
              <a:ext cx="734101" cy="248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  [25]</a:t>
              </a:r>
              <a:endParaRPr lang="en-US" sz="14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380991" y="5705886"/>
              <a:ext cx="6113115" cy="2779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00" dirty="0"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Recursion stops at single elements: each one is already sorted.</a:t>
              </a:r>
              <a:endParaRPr lang="en-US" sz="1400" dirty="0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5BDCA232-48D9-8D7A-AE81-07E71B657F13}"/>
                </a:ext>
              </a:extLst>
            </p:cNvPr>
            <p:cNvSpPr/>
            <p:nvPr/>
          </p:nvSpPr>
          <p:spPr>
            <a:xfrm>
              <a:off x="3798533" y="5079017"/>
              <a:ext cx="515726" cy="401241"/>
            </a:xfrm>
            <a:prstGeom prst="rect">
              <a:avLst/>
            </a:prstGeom>
            <a:solidFill>
              <a:srgbClr val="F6D96B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A2F6BE7-6F94-1F2C-9253-66C578A6785E}"/>
                </a:ext>
              </a:extLst>
            </p:cNvPr>
            <p:cNvSpPr txBox="1"/>
            <p:nvPr/>
          </p:nvSpPr>
          <p:spPr>
            <a:xfrm>
              <a:off x="3795679" y="5116313"/>
              <a:ext cx="5156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101110"/>
                  </a:solidFill>
                  <a:latin typeface="IBM Plex Sans" panose="020B0503050203000203" pitchFamily="34" charset="0"/>
                  <a:ea typeface="IBM Plex Sans" pitchFamily="34" charset="-122"/>
                  <a:cs typeface="IBM Plex Sans" pitchFamily="34" charset="-120"/>
                </a:rPr>
                <a:t>[31]</a:t>
              </a:r>
              <a:endParaRPr lang="en-IN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7F564E98-183F-9FF6-F181-AEC3DF3B368C}"/>
              </a:ext>
            </a:extLst>
          </p:cNvPr>
          <p:cNvSpPr txBox="1"/>
          <p:nvPr/>
        </p:nvSpPr>
        <p:spPr>
          <a:xfrm>
            <a:off x="5943452" y="711296"/>
            <a:ext cx="4535759" cy="362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150" dirty="0"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· INPUT [38, 12, 27, 43, 9, 31, 18, 25]</a:t>
            </a:r>
            <a:endParaRPr lang="en-US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3EC427-7A4C-BE75-DE16-8465124DB31E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E22C7AB9-28B9-4505-A68C-023F2CD1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759" y="6476987"/>
            <a:ext cx="1007706" cy="30482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65405"/>
            <a:ext cx="11734506" cy="17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128" dirty="0">
                <a:solidFill>
                  <a:srgbClr val="4D5B4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8" y="780288"/>
            <a:ext cx="11277318" cy="450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100" b="1" kern="100" spc="-62" dirty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ART OF MERGING</a:t>
            </a:r>
            <a:endParaRPr lang="en-US" sz="31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DA252DE-FEF7-B003-D93E-191EE65E33C5}"/>
              </a:ext>
            </a:extLst>
          </p:cNvPr>
          <p:cNvGrpSpPr/>
          <p:nvPr/>
        </p:nvGrpSpPr>
        <p:grpSpPr>
          <a:xfrm>
            <a:off x="457189" y="1446709"/>
            <a:ext cx="826769" cy="323552"/>
            <a:chOff x="457189" y="1446709"/>
            <a:chExt cx="826769" cy="323552"/>
          </a:xfrm>
        </p:grpSpPr>
        <p:sp>
          <p:nvSpPr>
            <p:cNvPr id="4" name="Shape 2"/>
            <p:cNvSpPr/>
            <p:nvPr/>
          </p:nvSpPr>
          <p:spPr>
            <a:xfrm>
              <a:off x="457189" y="1446709"/>
              <a:ext cx="323544" cy="323552"/>
            </a:xfrm>
            <a:prstGeom prst="roundRect">
              <a:avLst>
                <a:gd name="adj" fmla="val 17148"/>
              </a:avLst>
            </a:prstGeom>
            <a:solidFill>
              <a:srgbClr val="B8D8BA"/>
            </a:solidFill>
            <a:ln w="6350">
              <a:solidFill>
                <a:srgbClr val="D3CEBA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563449" y="1515963"/>
              <a:ext cx="720509" cy="184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1</a:t>
              </a:r>
              <a:endParaRPr lang="en-US" sz="145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965573" y="1501913"/>
            <a:ext cx="570940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4D5B4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Compare</a:t>
            </a: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first unprocessed elements of two sorted subarrays.</a:t>
            </a:r>
            <a:endParaRPr lang="en-US" sz="145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09FB303-5C55-010A-83CD-A6943384CD8D}"/>
              </a:ext>
            </a:extLst>
          </p:cNvPr>
          <p:cNvGrpSpPr/>
          <p:nvPr/>
        </p:nvGrpSpPr>
        <p:grpSpPr>
          <a:xfrm>
            <a:off x="457189" y="2323306"/>
            <a:ext cx="826769" cy="323552"/>
            <a:chOff x="457189" y="2323306"/>
            <a:chExt cx="826769" cy="323552"/>
          </a:xfrm>
        </p:grpSpPr>
        <p:sp>
          <p:nvSpPr>
            <p:cNvPr id="7" name="Shape 5"/>
            <p:cNvSpPr/>
            <p:nvPr/>
          </p:nvSpPr>
          <p:spPr>
            <a:xfrm>
              <a:off x="457189" y="2323306"/>
              <a:ext cx="323544" cy="323552"/>
            </a:xfrm>
            <a:prstGeom prst="roundRect">
              <a:avLst>
                <a:gd name="adj" fmla="val 17148"/>
              </a:avLst>
            </a:prstGeom>
            <a:solidFill>
              <a:srgbClr val="B8D8BA"/>
            </a:solidFill>
            <a:ln w="6350">
              <a:solidFill>
                <a:srgbClr val="D3CEBA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63449" y="2392561"/>
              <a:ext cx="720509" cy="184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2</a:t>
              </a:r>
              <a:endParaRPr lang="en-US" sz="145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965573" y="2378511"/>
            <a:ext cx="570940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4D5B4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Copy</a:t>
            </a: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smaller element to the output.</a:t>
            </a:r>
            <a:endParaRPr lang="en-US" sz="145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4BF55F-0BB3-49EC-9A1C-AF591C8F962D}"/>
              </a:ext>
            </a:extLst>
          </p:cNvPr>
          <p:cNvGrpSpPr/>
          <p:nvPr/>
        </p:nvGrpSpPr>
        <p:grpSpPr>
          <a:xfrm>
            <a:off x="457189" y="3199904"/>
            <a:ext cx="826769" cy="323552"/>
            <a:chOff x="457189" y="3199904"/>
            <a:chExt cx="826769" cy="323552"/>
          </a:xfrm>
        </p:grpSpPr>
        <p:sp>
          <p:nvSpPr>
            <p:cNvPr id="10" name="Shape 8"/>
            <p:cNvSpPr/>
            <p:nvPr/>
          </p:nvSpPr>
          <p:spPr>
            <a:xfrm>
              <a:off x="457189" y="3199904"/>
              <a:ext cx="323544" cy="323552"/>
            </a:xfrm>
            <a:prstGeom prst="roundRect">
              <a:avLst>
                <a:gd name="adj" fmla="val 17148"/>
              </a:avLst>
            </a:prstGeom>
            <a:solidFill>
              <a:srgbClr val="B8D8BA"/>
            </a:solidFill>
            <a:ln w="6350">
              <a:solidFill>
                <a:srgbClr val="D3CEBA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63449" y="3269159"/>
              <a:ext cx="720509" cy="184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3</a:t>
              </a:r>
              <a:endParaRPr lang="en-US" sz="14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965573" y="3255108"/>
            <a:ext cx="570940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 the pointer in the selected subarray.</a:t>
            </a:r>
            <a:endParaRPr lang="en-US" sz="145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2707F9D-3B76-4D98-279E-24B00A9E2A0E}"/>
              </a:ext>
            </a:extLst>
          </p:cNvPr>
          <p:cNvGrpSpPr/>
          <p:nvPr/>
        </p:nvGrpSpPr>
        <p:grpSpPr>
          <a:xfrm>
            <a:off x="457189" y="4076601"/>
            <a:ext cx="826769" cy="323552"/>
            <a:chOff x="457189" y="4076601"/>
            <a:chExt cx="826769" cy="323552"/>
          </a:xfrm>
        </p:grpSpPr>
        <p:sp>
          <p:nvSpPr>
            <p:cNvPr id="13" name="Shape 11"/>
            <p:cNvSpPr/>
            <p:nvPr/>
          </p:nvSpPr>
          <p:spPr>
            <a:xfrm>
              <a:off x="457189" y="4076601"/>
              <a:ext cx="323544" cy="323552"/>
            </a:xfrm>
            <a:prstGeom prst="roundRect">
              <a:avLst>
                <a:gd name="adj" fmla="val 17148"/>
              </a:avLst>
            </a:prstGeom>
            <a:solidFill>
              <a:srgbClr val="B8D8BA"/>
            </a:solidFill>
            <a:ln w="6350">
              <a:solidFill>
                <a:srgbClr val="D3CEBA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63449" y="4145855"/>
              <a:ext cx="720509" cy="184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4</a:t>
              </a:r>
              <a:endParaRPr lang="en-US" sz="145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965573" y="4131805"/>
            <a:ext cx="570940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 until one subarray is empty.</a:t>
            </a:r>
            <a:endParaRPr lang="en-US" sz="145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605A3B3-7826-B4D5-ACC6-CFC04A279A9E}"/>
              </a:ext>
            </a:extLst>
          </p:cNvPr>
          <p:cNvGrpSpPr/>
          <p:nvPr/>
        </p:nvGrpSpPr>
        <p:grpSpPr>
          <a:xfrm>
            <a:off x="457189" y="4953298"/>
            <a:ext cx="826769" cy="323552"/>
            <a:chOff x="457189" y="4953298"/>
            <a:chExt cx="826769" cy="323552"/>
          </a:xfrm>
        </p:grpSpPr>
        <p:sp>
          <p:nvSpPr>
            <p:cNvPr id="16" name="Shape 14"/>
            <p:cNvSpPr/>
            <p:nvPr/>
          </p:nvSpPr>
          <p:spPr>
            <a:xfrm>
              <a:off x="457189" y="4953298"/>
              <a:ext cx="323544" cy="323552"/>
            </a:xfrm>
            <a:prstGeom prst="roundRect">
              <a:avLst>
                <a:gd name="adj" fmla="val 17148"/>
              </a:avLst>
            </a:prstGeom>
            <a:solidFill>
              <a:srgbClr val="B8D8BA"/>
            </a:solidFill>
            <a:ln w="6350">
              <a:solidFill>
                <a:srgbClr val="D3CEBA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63449" y="5022552"/>
              <a:ext cx="720509" cy="184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3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5</a:t>
              </a:r>
              <a:endParaRPr lang="en-US" sz="145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965573" y="5008502"/>
            <a:ext cx="570940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 the remaining elements.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9666" y="975869"/>
            <a:ext cx="4754840" cy="17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SORTED INPUTS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79666" y="3838904"/>
            <a:ext cx="4754840" cy="697508"/>
          </a:xfrm>
          <a:prstGeom prst="rect">
            <a:avLst/>
          </a:prstGeom>
          <a:solidFill>
            <a:srgbClr val="F6D96B"/>
          </a:solidFill>
          <a:ln/>
        </p:spPr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EC25F7A-FBB9-CAE2-C31A-4EC8ED0ACE47}"/>
              </a:ext>
            </a:extLst>
          </p:cNvPr>
          <p:cNvGrpSpPr/>
          <p:nvPr/>
        </p:nvGrpSpPr>
        <p:grpSpPr>
          <a:xfrm>
            <a:off x="6979361" y="1268047"/>
            <a:ext cx="4777870" cy="4107852"/>
            <a:chOff x="6956636" y="1631255"/>
            <a:chExt cx="4777870" cy="4107852"/>
          </a:xfrm>
        </p:grpSpPr>
        <p:sp>
          <p:nvSpPr>
            <p:cNvPr id="20" name="Shape 18"/>
            <p:cNvSpPr/>
            <p:nvPr/>
          </p:nvSpPr>
          <p:spPr>
            <a:xfrm>
              <a:off x="6979666" y="1631255"/>
              <a:ext cx="4754840" cy="697508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7208260" y="1871205"/>
              <a:ext cx="4526246" cy="240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Left: [12, 38]</a:t>
              </a:r>
              <a:endParaRPr lang="en-US" sz="14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979666" y="2481163"/>
              <a:ext cx="4754840" cy="697508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208260" y="2721113"/>
              <a:ext cx="4526246" cy="240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Right: [27, 43]</a:t>
              </a:r>
              <a:endParaRPr lang="en-US" sz="14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979666" y="3331071"/>
              <a:ext cx="4754840" cy="697508"/>
            </a:xfrm>
            <a:prstGeom prst="rect">
              <a:avLst/>
            </a:prstGeom>
            <a:solidFill>
              <a:srgbClr val="E94B55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208260" y="3571021"/>
              <a:ext cx="4526246" cy="240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IBM Plex Sans Bold" pitchFamily="34" charset="0"/>
                  <a:ea typeface="IBM Plex Sans Bold" pitchFamily="34" charset="-122"/>
                  <a:cs typeface="IBM Plex Sans Bold" pitchFamily="34" charset="-120"/>
                </a:rPr>
                <a:t>Compare 12 vs 27 → copy 12</a:t>
              </a:r>
              <a:endParaRPr lang="en-US" sz="14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208260" y="4420929"/>
              <a:ext cx="4526246" cy="240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450" b="1" dirty="0">
                  <a:solidFill>
                    <a:srgbClr val="000000"/>
                  </a:solidFill>
                  <a:latin typeface="IBM Plex Sans Bold" pitchFamily="34" charset="0"/>
                  <a:ea typeface="IBM Plex Sans Bold" pitchFamily="34" charset="-122"/>
                  <a:cs typeface="IBM Plex Sans Bold" pitchFamily="34" charset="-120"/>
                </a:rPr>
                <a:t>Output: [12]</a:t>
              </a:r>
              <a:endParaRPr lang="en-US" sz="14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956636" y="5041599"/>
              <a:ext cx="4754840" cy="697508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7208260" y="5270836"/>
              <a:ext cx="4526246" cy="240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Still waiting: [38] | [27, 43]</a:t>
              </a:r>
              <a:endParaRPr lang="en-US" sz="145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457494" y="5730218"/>
            <a:ext cx="3555911" cy="881392"/>
          </a:xfrm>
          <a:prstGeom prst="rect">
            <a:avLst/>
          </a:prstGeom>
          <a:solidFill>
            <a:srgbClr val="B8D8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686088" y="6057040"/>
            <a:ext cx="3327317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[38] + [12] → </a:t>
            </a: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[12, 38]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4317892" y="5730218"/>
            <a:ext cx="3555911" cy="881392"/>
          </a:xfrm>
          <a:prstGeom prst="rect">
            <a:avLst/>
          </a:prstGeom>
          <a:solidFill>
            <a:srgbClr val="B8D8BA"/>
          </a:solidFill>
          <a:ln/>
        </p:spPr>
      </p:sp>
      <p:sp>
        <p:nvSpPr>
          <p:cNvPr id="33" name="Text 31"/>
          <p:cNvSpPr/>
          <p:nvPr/>
        </p:nvSpPr>
        <p:spPr>
          <a:xfrm>
            <a:off x="4546486" y="6087309"/>
            <a:ext cx="3327317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[27] + [43] → </a:t>
            </a: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[27, 43]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8178290" y="5717519"/>
            <a:ext cx="3555911" cy="894092"/>
          </a:xfrm>
          <a:prstGeom prst="rect">
            <a:avLst/>
          </a:prstGeom>
          <a:solidFill>
            <a:srgbClr val="E94B5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8301150" y="6055902"/>
            <a:ext cx="3433357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[12, 38] + [27, 43] → </a:t>
            </a: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[12, 27, 38, 43]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457189" y="2094359"/>
            <a:ext cx="6217784" cy="12700"/>
          </a:xfrm>
          <a:prstGeom prst="rect">
            <a:avLst/>
          </a:prstGeom>
          <a:solidFill>
            <a:srgbClr val="4D5B42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189" y="2987479"/>
            <a:ext cx="6217784" cy="12700"/>
          </a:xfrm>
          <a:prstGeom prst="rect">
            <a:avLst/>
          </a:prstGeom>
          <a:solidFill>
            <a:srgbClr val="4D5B42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188" y="3875881"/>
            <a:ext cx="6217784" cy="12700"/>
          </a:xfrm>
          <a:prstGeom prst="rect">
            <a:avLst/>
          </a:prstGeom>
          <a:solidFill>
            <a:srgbClr val="4D5B42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189" y="4740791"/>
            <a:ext cx="6217784" cy="12700"/>
          </a:xfrm>
          <a:prstGeom prst="rect">
            <a:avLst/>
          </a:prstGeom>
          <a:solidFill>
            <a:srgbClr val="F7F4E8"/>
          </a:solidFill>
          <a:ln w="6350">
            <a:solidFill>
              <a:schemeClr val="tx1"/>
            </a:solidFill>
          </a:ln>
        </p:spPr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7761CB-6B6B-1E18-19E5-B9D7F722F6E0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20" y="460111"/>
            <a:ext cx="1173450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kern="100" spc="148" dirty="0">
                <a:solidFill>
                  <a:schemeClr val="accent6">
                    <a:lumMod val="40000"/>
                    <a:lumOff val="60000"/>
                  </a:schemeClr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2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792097"/>
            <a:ext cx="11277318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50" b="1" kern="100" spc="-71" dirty="0">
                <a:solidFill>
                  <a:schemeClr val="bg1">
                    <a:lumMod val="95000"/>
                  </a:scheme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COMPLETE DRY RUN</a:t>
            </a:r>
            <a:endParaRPr lang="en-US" sz="35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189" y="1474655"/>
            <a:ext cx="5486263" cy="2768402"/>
          </a:xfrm>
          <a:prstGeom prst="roundRect">
            <a:avLst>
              <a:gd name="adj" fmla="val 413"/>
            </a:avLst>
          </a:prstGeom>
          <a:solidFill>
            <a:srgbClr val="B8D8BA"/>
          </a:solidFill>
          <a:ln w="25399">
            <a:solidFill>
              <a:schemeClr val="bg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1182" y="1792520"/>
            <a:ext cx="523226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LANE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1182" y="2243991"/>
            <a:ext cx="4978275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50" b="1" kern="100" spc="-55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Left-side merges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711182" y="2876153"/>
            <a:ext cx="4978275" cy="117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[38] + [12] → [12, 38]</a:t>
            </a:r>
            <a:endParaRPr lang="en-US" sz="1650" dirty="0"/>
          </a:p>
          <a:p>
            <a:pPr marL="0" indent="0" algn="l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[27] + [43] → [27, 43]</a:t>
            </a:r>
            <a:endParaRPr lang="en-US" sz="16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[12, 38] + [27, 43] → [12, 27, 38, 43]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48244" y="1451329"/>
            <a:ext cx="5486263" cy="2768402"/>
          </a:xfrm>
          <a:prstGeom prst="roundRect">
            <a:avLst>
              <a:gd name="adj" fmla="val 413"/>
            </a:avLst>
          </a:prstGeom>
          <a:solidFill>
            <a:srgbClr val="4D5B42"/>
          </a:solidFill>
          <a:ln w="25399">
            <a:solidFill>
              <a:srgbClr val="D3CE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237" y="1792520"/>
            <a:ext cx="523226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LANE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02237" y="2243991"/>
            <a:ext cx="4978275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50" b="1" kern="100" spc="-55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Right-side merges</a:t>
            </a:r>
            <a:endParaRPr lang="en-US" sz="2750" dirty="0"/>
          </a:p>
        </p:txBody>
      </p:sp>
      <p:sp>
        <p:nvSpPr>
          <p:cNvPr id="11" name="Text 9"/>
          <p:cNvSpPr/>
          <p:nvPr/>
        </p:nvSpPr>
        <p:spPr>
          <a:xfrm>
            <a:off x="6502237" y="2876153"/>
            <a:ext cx="4978275" cy="117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[9] + [31] → [9, 31]</a:t>
            </a:r>
            <a:endParaRPr lang="en-US" sz="1650" dirty="0"/>
          </a:p>
          <a:p>
            <a:pPr marL="0" indent="0" algn="l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[18] + [25] → [18, 25]</a:t>
            </a:r>
            <a:endParaRPr lang="en-US" sz="16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[9, 31] + [18, 25] → [9, 18, 25, 31]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7494" y="4503840"/>
            <a:ext cx="1173450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50" b="1" dirty="0">
                <a:solidFill>
                  <a:srgbClr val="4D5B4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↓ both sorted halves flow into the final merge ↓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57189" y="4923536"/>
            <a:ext cx="3291797" cy="1014845"/>
          </a:xfrm>
          <a:prstGeom prst="rect">
            <a:avLst/>
          </a:prstGeom>
          <a:solidFill>
            <a:srgbClr val="B8D8B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783" y="5172974"/>
            <a:ext cx="306320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MERGE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8025" y="5404321"/>
            <a:ext cx="2834609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50" b="1" kern="100" spc="-55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Final merge</a:t>
            </a:r>
            <a:endParaRPr lang="en-US" sz="2750" dirty="0"/>
          </a:p>
        </p:txBody>
      </p:sp>
      <p:sp>
        <p:nvSpPr>
          <p:cNvPr id="16" name="Shape 14"/>
          <p:cNvSpPr/>
          <p:nvPr/>
        </p:nvSpPr>
        <p:spPr>
          <a:xfrm>
            <a:off x="4053679" y="4923536"/>
            <a:ext cx="7680827" cy="1014845"/>
          </a:xfrm>
          <a:prstGeom prst="rect">
            <a:avLst/>
          </a:prstGeom>
          <a:solidFill>
            <a:srgbClr val="F6D96B"/>
          </a:solidFill>
          <a:ln/>
        </p:spPr>
      </p:sp>
      <p:sp>
        <p:nvSpPr>
          <p:cNvPr id="17" name="Text 15"/>
          <p:cNvSpPr/>
          <p:nvPr/>
        </p:nvSpPr>
        <p:spPr>
          <a:xfrm>
            <a:off x="4282273" y="5133932"/>
            <a:ext cx="7452233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[12, 27, 38, 43] + [9, 18, 25, 31]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061742" y="5490105"/>
            <a:ext cx="7452233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 [9, 12, 18, 25, 27, 31, 38, 43]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57189" y="6176954"/>
            <a:ext cx="1173450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two sorted halves are combined by repeatedly choosing the smallest available element.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884918" y="6523633"/>
            <a:ext cx="306777" cy="211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7BCB742-F6B5-A323-64A7-E62A535B6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122" y="6489165"/>
            <a:ext cx="1181573" cy="3491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6D512B3-6226-F2F6-4CD9-E8C99C16D6EA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879"/>
            <a:ext cx="1173450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128" dirty="0">
                <a:solidFill>
                  <a:srgbClr val="4D5B4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96861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050" b="1" kern="100" spc="-61" dirty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MERGE SORT IN C</a:t>
            </a:r>
            <a:endParaRPr lang="en-US" sz="3050" dirty="0"/>
          </a:p>
        </p:txBody>
      </p:sp>
      <p:sp>
        <p:nvSpPr>
          <p:cNvPr id="7" name="Shape 5"/>
          <p:cNvSpPr/>
          <p:nvPr/>
        </p:nvSpPr>
        <p:spPr>
          <a:xfrm>
            <a:off x="2387540" y="1347875"/>
            <a:ext cx="1625559" cy="1215231"/>
          </a:xfrm>
          <a:prstGeom prst="rect">
            <a:avLst/>
          </a:prstGeom>
          <a:solidFill>
            <a:srgbClr val="B8D8BA"/>
          </a:solidFill>
          <a:ln/>
        </p:spPr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932F91-3D4E-A8DB-5BBA-27771B2E4D90}"/>
              </a:ext>
            </a:extLst>
          </p:cNvPr>
          <p:cNvGrpSpPr/>
          <p:nvPr/>
        </p:nvGrpSpPr>
        <p:grpSpPr>
          <a:xfrm>
            <a:off x="457188" y="1347875"/>
            <a:ext cx="5512304" cy="1215231"/>
            <a:chOff x="457189" y="1564481"/>
            <a:chExt cx="5512304" cy="1215231"/>
          </a:xfrm>
        </p:grpSpPr>
        <p:sp>
          <p:nvSpPr>
            <p:cNvPr id="4" name="Shape 2"/>
            <p:cNvSpPr/>
            <p:nvPr/>
          </p:nvSpPr>
          <p:spPr>
            <a:xfrm>
              <a:off x="457189" y="1564481"/>
              <a:ext cx="1701757" cy="121523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685783" y="1831664"/>
              <a:ext cx="1396965" cy="1747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050" b="1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STAGE 1 · SPLIT</a:t>
              </a:r>
              <a:endParaRPr lang="en-US" sz="1050" b="1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22135" y="2275670"/>
              <a:ext cx="1586654" cy="475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Left half | right half</a:t>
              </a:r>
              <a:endParaRPr lang="en-US" sz="14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588062" y="1868128"/>
              <a:ext cx="1396963" cy="349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050" b="1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STAGE 2 · RECURSE</a:t>
              </a:r>
              <a:endParaRPr lang="en-US" sz="1050" b="1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616135" y="2262374"/>
              <a:ext cx="1396965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Sort each half</a:t>
              </a:r>
              <a:endParaRPr lang="en-US" sz="14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317892" y="1564481"/>
              <a:ext cx="1625559" cy="1215231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546486" y="1868128"/>
              <a:ext cx="1396965" cy="1747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050" b="1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STAGE 3 · MERGE</a:t>
              </a:r>
              <a:endParaRPr lang="en-US" sz="1050" b="1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241694" y="2158340"/>
              <a:ext cx="1727799" cy="475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8000"/>
                </a:lnSpc>
                <a:buNone/>
              </a:pPr>
              <a:r>
                <a:rPr lang="en-US" sz="145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Combine sorted halves</a:t>
              </a:r>
              <a:endParaRPr lang="en-US" sz="145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457189" y="2916451"/>
            <a:ext cx="548626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kern="100" spc="-48" dirty="0">
                <a:solidFill>
                  <a:srgbClr val="E94B5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mergeSort</a:t>
            </a:r>
            <a:r>
              <a:rPr lang="en-US" sz="2400" b="1" kern="100" spc="-48" dirty="0">
                <a:solidFill>
                  <a:srgbClr val="4D5B4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(arr, left, right):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189" y="3339376"/>
            <a:ext cx="5486263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whether the subarray contains more than one element.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Calculates the midpoint.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Recursively sorts the left and right halves.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Calls merge() to combine them.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189" y="4632969"/>
            <a:ext cx="5486263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kern="100" spc="-48" dirty="0">
                <a:solidFill>
                  <a:srgbClr val="E94B5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merge</a:t>
            </a:r>
            <a:r>
              <a:rPr lang="en-US" sz="2400" b="1" kern="100" spc="-48" dirty="0">
                <a:solidFill>
                  <a:srgbClr val="4D5B4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(arr, left, mid, right):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189" y="5036087"/>
            <a:ext cx="5486263" cy="1371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Uses temporary storage.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Compares the elements of the two sorted halves.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Copies the smaller element into the temporary result.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Copies any remaining elements.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the merged result back to the original array.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48244" y="1169796"/>
            <a:ext cx="5486263" cy="4552290"/>
          </a:xfrm>
          <a:prstGeom prst="rect">
            <a:avLst/>
          </a:prstGeom>
          <a:solidFill>
            <a:srgbClr val="10111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6838" y="1577034"/>
            <a:ext cx="5029074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kern="100" spc="-48" dirty="0">
                <a:solidFill>
                  <a:srgbClr val="F6D9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Pseudocode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76838" y="2118618"/>
            <a:ext cx="5029074" cy="2129234"/>
          </a:xfrm>
          <a:prstGeom prst="roundRect">
            <a:avLst>
              <a:gd name="adj" fmla="val 537"/>
            </a:avLst>
          </a:prstGeom>
          <a:solidFill>
            <a:srgbClr val="F7F4E8"/>
          </a:solidFill>
          <a:ln/>
        </p:spPr>
      </p:sp>
      <p:sp>
        <p:nvSpPr>
          <p:cNvPr id="20" name="Text 18"/>
          <p:cNvSpPr/>
          <p:nvPr/>
        </p:nvSpPr>
        <p:spPr>
          <a:xfrm>
            <a:off x="6697098" y="2302173"/>
            <a:ext cx="4588554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mergeSort(arr, left, right):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left &lt; right: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left + (right - left) / 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mergeSort(arr, left, mid)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mergeSort(arr, mid + 1, right)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merge(arr, left, mid, right)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76838" y="4466320"/>
            <a:ext cx="502907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main() reads the number of elements and the array, calls mergeSort(arr, 0, n - 1), and displays the sorted result.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4918" y="6523633"/>
            <a:ext cx="306777" cy="211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36054A-0253-3CBD-84C1-296DD1306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767" y="6476987"/>
            <a:ext cx="1035698" cy="30482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000193-EF20-6A53-C419-CFC2244481C3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913120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600" b="1" kern="100" spc="-72" dirty="0"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COMPLEXITY ANALYSIS</a:t>
            </a:r>
            <a:endParaRPr lang="en-US" sz="3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FD6966-9F20-79BB-7172-F4B6F8340088}"/>
              </a:ext>
            </a:extLst>
          </p:cNvPr>
          <p:cNvGrpSpPr/>
          <p:nvPr/>
        </p:nvGrpSpPr>
        <p:grpSpPr>
          <a:xfrm>
            <a:off x="452639" y="1928000"/>
            <a:ext cx="5440000" cy="780000"/>
            <a:chOff x="457189" y="1780000"/>
            <a:chExt cx="5440000" cy="780000"/>
          </a:xfrm>
          <a:solidFill>
            <a:srgbClr val="A2CF51"/>
          </a:solidFill>
        </p:grpSpPr>
        <p:sp>
          <p:nvSpPr>
            <p:cNvPr id="101" name="Case card 1"/>
            <p:cNvSpPr/>
            <p:nvPr/>
          </p:nvSpPr>
          <p:spPr>
            <a:xfrm>
              <a:off x="457189" y="1780000"/>
              <a:ext cx="5440000" cy="780000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2" name="Case label 1"/>
            <p:cNvSpPr txBox="1"/>
            <p:nvPr/>
          </p:nvSpPr>
          <p:spPr>
            <a:xfrm>
              <a:off x="717189" y="1780000"/>
              <a:ext cx="2300000" cy="780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800" dirty="0">
                  <a:solidFill>
                    <a:srgbClr val="101110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Best case</a:t>
              </a:r>
            </a:p>
          </p:txBody>
        </p:sp>
        <p:sp>
          <p:nvSpPr>
            <p:cNvPr id="103" name="Case value 1"/>
            <p:cNvSpPr txBox="1"/>
            <p:nvPr/>
          </p:nvSpPr>
          <p:spPr>
            <a:xfrm>
              <a:off x="3057189" y="1780000"/>
              <a:ext cx="2580000" cy="780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00000"/>
                </a:lnSpc>
                <a:buNone/>
              </a:pPr>
              <a:r>
                <a:rPr lang="en-US" sz="2800" b="1" dirty="0">
                  <a:solidFill>
                    <a:srgbClr val="101110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O(n log n)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28FA4C3-CED3-9DBA-4166-9E17BEC51A5D}"/>
              </a:ext>
            </a:extLst>
          </p:cNvPr>
          <p:cNvGrpSpPr/>
          <p:nvPr/>
        </p:nvGrpSpPr>
        <p:grpSpPr>
          <a:xfrm>
            <a:off x="457189" y="2774000"/>
            <a:ext cx="5440000" cy="780000"/>
            <a:chOff x="457189" y="2700000"/>
            <a:chExt cx="5440000" cy="780000"/>
          </a:xfrm>
        </p:grpSpPr>
        <p:sp>
          <p:nvSpPr>
            <p:cNvPr id="104" name="Case card 2"/>
            <p:cNvSpPr/>
            <p:nvPr/>
          </p:nvSpPr>
          <p:spPr>
            <a:xfrm>
              <a:off x="457189" y="2700000"/>
              <a:ext cx="5440000" cy="780000"/>
            </a:xfrm>
            <a:prstGeom prst="rect">
              <a:avLst/>
            </a:prstGeom>
            <a:solidFill>
              <a:srgbClr val="F6D96B"/>
            </a:solidFill>
            <a:ln>
              <a:noFill/>
            </a:ln>
          </p:spPr>
        </p:sp>
        <p:sp>
          <p:nvSpPr>
            <p:cNvPr id="105" name="Case label 2"/>
            <p:cNvSpPr txBox="1"/>
            <p:nvPr/>
          </p:nvSpPr>
          <p:spPr>
            <a:xfrm>
              <a:off x="717189" y="2700000"/>
              <a:ext cx="2300000" cy="7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800" dirty="0">
                  <a:solidFill>
                    <a:srgbClr val="101110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Average case</a:t>
              </a:r>
            </a:p>
          </p:txBody>
        </p:sp>
        <p:sp>
          <p:nvSpPr>
            <p:cNvPr id="106" name="Case value 2"/>
            <p:cNvSpPr txBox="1"/>
            <p:nvPr/>
          </p:nvSpPr>
          <p:spPr>
            <a:xfrm>
              <a:off x="3057189" y="2700000"/>
              <a:ext cx="2580000" cy="7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00000"/>
                </a:lnSpc>
                <a:buNone/>
              </a:pPr>
              <a:r>
                <a:rPr lang="en-US" sz="2800" b="1" dirty="0">
                  <a:solidFill>
                    <a:srgbClr val="101110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O(n log n)</a:t>
              </a:r>
            </a:p>
          </p:txBody>
        </p:sp>
      </p:grpSp>
      <p:sp>
        <p:nvSpPr>
          <p:cNvPr id="107" name="Case card 3"/>
          <p:cNvSpPr/>
          <p:nvPr/>
        </p:nvSpPr>
        <p:spPr>
          <a:xfrm>
            <a:off x="457189" y="3620000"/>
            <a:ext cx="5440000" cy="780000"/>
          </a:xfrm>
          <a:prstGeom prst="rect">
            <a:avLst/>
          </a:prstGeom>
          <a:solidFill>
            <a:srgbClr val="E94B55"/>
          </a:solidFill>
          <a:ln>
            <a:noFill/>
          </a:ln>
        </p:spPr>
      </p:sp>
      <p:sp>
        <p:nvSpPr>
          <p:cNvPr id="108" name="Case label 3"/>
          <p:cNvSpPr txBox="1"/>
          <p:nvPr/>
        </p:nvSpPr>
        <p:spPr>
          <a:xfrm>
            <a:off x="717189" y="3620000"/>
            <a:ext cx="23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11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Worst case</a:t>
            </a:r>
          </a:p>
        </p:txBody>
      </p:sp>
      <p:sp>
        <p:nvSpPr>
          <p:cNvPr id="109" name="Case value 3"/>
          <p:cNvSpPr txBox="1"/>
          <p:nvPr/>
        </p:nvSpPr>
        <p:spPr>
          <a:xfrm>
            <a:off x="3057189" y="3620000"/>
            <a:ext cx="258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011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O(n log n)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C9E514-EED0-D165-8207-E730AB7C6995}"/>
              </a:ext>
            </a:extLst>
          </p:cNvPr>
          <p:cNvGrpSpPr/>
          <p:nvPr/>
        </p:nvGrpSpPr>
        <p:grpSpPr>
          <a:xfrm>
            <a:off x="457189" y="4869346"/>
            <a:ext cx="5440000" cy="1011714"/>
            <a:chOff x="457189" y="4540000"/>
            <a:chExt cx="5440000" cy="1300000"/>
          </a:xfrm>
        </p:grpSpPr>
        <p:sp>
          <p:nvSpPr>
            <p:cNvPr id="110" name="Space card"/>
            <p:cNvSpPr/>
            <p:nvPr/>
          </p:nvSpPr>
          <p:spPr>
            <a:xfrm>
              <a:off x="457189" y="4540000"/>
              <a:ext cx="5440000" cy="1300000"/>
            </a:xfrm>
            <a:prstGeom prst="rect">
              <a:avLst/>
            </a:prstGeom>
            <a:solidFill>
              <a:srgbClr val="101110"/>
            </a:solidFill>
            <a:ln>
              <a:noFill/>
            </a:ln>
          </p:spPr>
        </p:sp>
        <p:sp>
          <p:nvSpPr>
            <p:cNvPr id="111" name="Space label"/>
            <p:cNvSpPr txBox="1"/>
            <p:nvPr/>
          </p:nvSpPr>
          <p:spPr>
            <a:xfrm>
              <a:off x="717189" y="4690000"/>
              <a:ext cx="3200000" cy="4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800" dirty="0">
                  <a:solidFill>
                    <a:srgbClr val="B8D8BA"/>
                  </a:solidFill>
                  <a:latin typeface="IBM Plex Sans SemiBold" pitchFamily="34" charset="0"/>
                  <a:ea typeface="IBM Plex Sans SemiBold" pitchFamily="34" charset="-122"/>
                  <a:cs typeface="IBM Plex Sans SemiBold" pitchFamily="34" charset="-120"/>
                </a:rPr>
                <a:t>Auxiliary space complexity</a:t>
              </a:r>
            </a:p>
          </p:txBody>
        </p:sp>
        <p:sp>
          <p:nvSpPr>
            <p:cNvPr id="112" name="Space value"/>
            <p:cNvSpPr txBox="1"/>
            <p:nvPr/>
          </p:nvSpPr>
          <p:spPr>
            <a:xfrm>
              <a:off x="3957189" y="4690000"/>
              <a:ext cx="1680000" cy="4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00000"/>
                </a:lnSpc>
                <a:buNone/>
              </a:pPr>
              <a:r>
                <a:rPr lang="en-US" sz="2800" b="1" dirty="0">
                  <a:solidFill>
                    <a:srgbClr val="F6D96B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O(n)</a:t>
              </a:r>
            </a:p>
          </p:txBody>
        </p:sp>
        <p:sp>
          <p:nvSpPr>
            <p:cNvPr id="113" name="Space note"/>
            <p:cNvSpPr txBox="1"/>
            <p:nvPr/>
          </p:nvSpPr>
          <p:spPr>
            <a:xfrm>
              <a:off x="717189" y="5190000"/>
              <a:ext cx="49200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The conventional array implementation uses O(n) additional memory and is not in-place.</a:t>
              </a:r>
            </a:p>
          </p:txBody>
        </p:sp>
      </p:grpSp>
      <p:sp>
        <p:nvSpPr>
          <p:cNvPr id="114" name="Step card 1"/>
          <p:cNvSpPr/>
          <p:nvPr/>
        </p:nvSpPr>
        <p:spPr>
          <a:xfrm>
            <a:off x="6294507" y="1780000"/>
            <a:ext cx="5440000" cy="7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EBA"/>
            </a:solidFill>
          </a:ln>
        </p:spPr>
      </p:sp>
      <p:sp>
        <p:nvSpPr>
          <p:cNvPr id="115" name="Step badge 1"/>
          <p:cNvSpPr/>
          <p:nvPr/>
        </p:nvSpPr>
        <p:spPr>
          <a:xfrm>
            <a:off x="6430000" y="1938000"/>
            <a:ext cx="400000" cy="400000"/>
          </a:xfrm>
          <a:prstGeom prst="roundRect">
            <a:avLst>
              <a:gd name="adj" fmla="val 17148"/>
            </a:avLst>
          </a:prstGeom>
          <a:solidFill>
            <a:srgbClr val="B8D8BA"/>
          </a:solidFill>
          <a:ln w="9525">
            <a:solidFill>
              <a:srgbClr val="D3CEB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</a:t>
            </a:r>
          </a:p>
        </p:txBody>
      </p:sp>
      <p:sp>
        <p:nvSpPr>
          <p:cNvPr id="116" name="Step text 1"/>
          <p:cNvSpPr txBox="1"/>
          <p:nvPr/>
        </p:nvSpPr>
        <p:spPr>
          <a:xfrm>
            <a:off x="7020000" y="1780000"/>
            <a:ext cx="4544507" cy="7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array is recursively divided into smaller subarrays.</a:t>
            </a:r>
          </a:p>
        </p:txBody>
      </p:sp>
      <p:sp>
        <p:nvSpPr>
          <p:cNvPr id="117" name="Step card 2"/>
          <p:cNvSpPr/>
          <p:nvPr/>
        </p:nvSpPr>
        <p:spPr>
          <a:xfrm>
            <a:off x="6294507" y="2616000"/>
            <a:ext cx="5440000" cy="7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EBA"/>
            </a:solidFill>
          </a:ln>
        </p:spPr>
      </p:sp>
      <p:sp>
        <p:nvSpPr>
          <p:cNvPr id="118" name="Step badge 2"/>
          <p:cNvSpPr/>
          <p:nvPr/>
        </p:nvSpPr>
        <p:spPr>
          <a:xfrm>
            <a:off x="6430000" y="2774000"/>
            <a:ext cx="400000" cy="400000"/>
          </a:xfrm>
          <a:prstGeom prst="roundRect">
            <a:avLst>
              <a:gd name="adj" fmla="val 17148"/>
            </a:avLst>
          </a:prstGeom>
          <a:solidFill>
            <a:srgbClr val="B8D8BA"/>
          </a:solidFill>
          <a:ln w="9525">
            <a:solidFill>
              <a:srgbClr val="D3CEB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</a:t>
            </a:r>
          </a:p>
        </p:txBody>
      </p:sp>
      <p:sp>
        <p:nvSpPr>
          <p:cNvPr id="119" name="Step text 2"/>
          <p:cNvSpPr txBox="1"/>
          <p:nvPr/>
        </p:nvSpPr>
        <p:spPr>
          <a:xfrm>
            <a:off x="7020000" y="2616000"/>
            <a:ext cx="4544507" cy="7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are approximately log₂(n) division levels.</a:t>
            </a:r>
          </a:p>
        </p:txBody>
      </p:sp>
      <p:sp>
        <p:nvSpPr>
          <p:cNvPr id="120" name="Step card 3"/>
          <p:cNvSpPr/>
          <p:nvPr/>
        </p:nvSpPr>
        <p:spPr>
          <a:xfrm>
            <a:off x="6294507" y="3452000"/>
            <a:ext cx="5440000" cy="7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EBA"/>
            </a:solidFill>
          </a:ln>
        </p:spPr>
      </p:sp>
      <p:sp>
        <p:nvSpPr>
          <p:cNvPr id="121" name="Step badge 3"/>
          <p:cNvSpPr/>
          <p:nvPr/>
        </p:nvSpPr>
        <p:spPr>
          <a:xfrm>
            <a:off x="6430000" y="3610000"/>
            <a:ext cx="400000" cy="400000"/>
          </a:xfrm>
          <a:prstGeom prst="roundRect">
            <a:avLst>
              <a:gd name="adj" fmla="val 17148"/>
            </a:avLst>
          </a:prstGeom>
          <a:solidFill>
            <a:srgbClr val="B8D8BA"/>
          </a:solidFill>
          <a:ln w="9525">
            <a:solidFill>
              <a:srgbClr val="D3CEB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</a:t>
            </a:r>
          </a:p>
        </p:txBody>
      </p:sp>
      <p:sp>
        <p:nvSpPr>
          <p:cNvPr id="122" name="Step text 3"/>
          <p:cNvSpPr txBox="1"/>
          <p:nvPr/>
        </p:nvSpPr>
        <p:spPr>
          <a:xfrm>
            <a:off x="7020000" y="3452000"/>
            <a:ext cx="4544507" cy="7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Merging processes O(n) elements per level.</a:t>
            </a:r>
          </a:p>
        </p:txBody>
      </p:sp>
      <p:sp>
        <p:nvSpPr>
          <p:cNvPr id="123" name="Step card 4"/>
          <p:cNvSpPr/>
          <p:nvPr/>
        </p:nvSpPr>
        <p:spPr>
          <a:xfrm>
            <a:off x="6294507" y="4288000"/>
            <a:ext cx="5440000" cy="7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EBA"/>
            </a:solidFill>
          </a:ln>
        </p:spPr>
      </p:sp>
      <p:sp>
        <p:nvSpPr>
          <p:cNvPr id="124" name="Step badge 4"/>
          <p:cNvSpPr/>
          <p:nvPr/>
        </p:nvSpPr>
        <p:spPr>
          <a:xfrm>
            <a:off x="6430000" y="4446000"/>
            <a:ext cx="400000" cy="400000"/>
          </a:xfrm>
          <a:prstGeom prst="roundRect">
            <a:avLst>
              <a:gd name="adj" fmla="val 17148"/>
            </a:avLst>
          </a:prstGeom>
          <a:solidFill>
            <a:srgbClr val="B8D8BA"/>
          </a:solidFill>
          <a:ln w="9525">
            <a:solidFill>
              <a:srgbClr val="D3CEB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4</a:t>
            </a:r>
          </a:p>
        </p:txBody>
      </p:sp>
      <p:sp>
        <p:nvSpPr>
          <p:cNvPr id="125" name="Step text 4"/>
          <p:cNvSpPr txBox="1"/>
          <p:nvPr/>
        </p:nvSpPr>
        <p:spPr>
          <a:xfrm>
            <a:off x="7020000" y="4288000"/>
            <a:ext cx="4544507" cy="7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recurrence is T(n) = 2T(n/2) + O(n).</a:t>
            </a:r>
          </a:p>
        </p:txBody>
      </p:sp>
      <p:sp>
        <p:nvSpPr>
          <p:cNvPr id="126" name="Step card 5"/>
          <p:cNvSpPr/>
          <p:nvPr/>
        </p:nvSpPr>
        <p:spPr>
          <a:xfrm>
            <a:off x="6294507" y="5124000"/>
            <a:ext cx="5440000" cy="716000"/>
          </a:xfrm>
          <a:prstGeom prst="rect">
            <a:avLst/>
          </a:prstGeom>
          <a:solidFill>
            <a:srgbClr val="F6D96B"/>
          </a:solidFill>
          <a:ln>
            <a:noFill/>
          </a:ln>
        </p:spPr>
      </p:sp>
      <p:sp>
        <p:nvSpPr>
          <p:cNvPr id="127" name="Step badge 5"/>
          <p:cNvSpPr/>
          <p:nvPr/>
        </p:nvSpPr>
        <p:spPr>
          <a:xfrm>
            <a:off x="6430000" y="5282000"/>
            <a:ext cx="400000" cy="400000"/>
          </a:xfrm>
          <a:prstGeom prst="roundRect">
            <a:avLst>
              <a:gd name="adj" fmla="val 17148"/>
            </a:avLst>
          </a:prstGeom>
          <a:solidFill>
            <a:srgbClr val="1011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5</a:t>
            </a:r>
          </a:p>
        </p:txBody>
      </p:sp>
      <p:sp>
        <p:nvSpPr>
          <p:cNvPr id="128" name="Step text 5"/>
          <p:cNvSpPr txBox="1"/>
          <p:nvPr/>
        </p:nvSpPr>
        <p:spPr>
          <a:xfrm>
            <a:off x="7020000" y="5124000"/>
            <a:ext cx="4544507" cy="7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Therefore, the time complexity is O(n log n).</a:t>
            </a:r>
          </a:p>
        </p:txBody>
      </p:sp>
      <p:sp>
        <p:nvSpPr>
          <p:cNvPr id="6" name="Text 4"/>
          <p:cNvSpPr/>
          <p:nvPr/>
        </p:nvSpPr>
        <p:spPr>
          <a:xfrm>
            <a:off x="11884918" y="6523633"/>
            <a:ext cx="306777" cy="211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D5B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34FB5C-D651-E082-E168-31A6BC060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486" y="6476987"/>
            <a:ext cx="1212979" cy="304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ABEEB3-8D65-FEBF-D452-281827D575DB}"/>
              </a:ext>
            </a:extLst>
          </p:cNvPr>
          <p:cNvSpPr txBox="1"/>
          <p:nvPr/>
        </p:nvSpPr>
        <p:spPr>
          <a:xfrm>
            <a:off x="457189" y="529252"/>
            <a:ext cx="6097554" cy="31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28" dirty="0">
                <a:solidFill>
                  <a:srgbClr val="4D5B4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36E56-08B4-A127-72BC-16810BB58EF1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788"/>
            <a:ext cx="1173450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kern="100" spc="150" dirty="0">
                <a:solidFill>
                  <a:srgbClr val="B8D8B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1314709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600" b="1" kern="100" spc="-72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ADVANTAGES, LIMITATIONS AND APPLICATIONS</a:t>
            </a:r>
            <a:endParaRPr lang="en-US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705EB6-6BEA-EC42-5466-660A64432576}"/>
              </a:ext>
            </a:extLst>
          </p:cNvPr>
          <p:cNvGrpSpPr/>
          <p:nvPr/>
        </p:nvGrpSpPr>
        <p:grpSpPr>
          <a:xfrm>
            <a:off x="457189" y="2226221"/>
            <a:ext cx="11277317" cy="3728343"/>
            <a:chOff x="457189" y="1560810"/>
            <a:chExt cx="11277317" cy="3728343"/>
          </a:xfrm>
        </p:grpSpPr>
        <p:sp>
          <p:nvSpPr>
            <p:cNvPr id="4" name="Shape 2"/>
            <p:cNvSpPr/>
            <p:nvPr/>
          </p:nvSpPr>
          <p:spPr>
            <a:xfrm>
              <a:off x="457189" y="1560810"/>
              <a:ext cx="3555911" cy="3728343"/>
            </a:xfrm>
            <a:prstGeom prst="rect">
              <a:avLst/>
            </a:prstGeom>
            <a:solidFill>
              <a:srgbClr val="B8D8BA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685783" y="1806555"/>
              <a:ext cx="3098722" cy="408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2800" b="1" kern="100" spc="-56" dirty="0">
                  <a:solidFill>
                    <a:srgbClr val="000000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Advantages</a:t>
              </a:r>
              <a:endParaRPr lang="en-US" sz="2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85783" y="2452291"/>
              <a:ext cx="3098722" cy="26082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Guaranteed O(n log n) time complexity.</a:t>
              </a:r>
              <a:endParaRPr lang="en-US" sz="1700" dirty="0"/>
            </a:p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Stable sorting when equal elements preserve their relative order.</a:t>
              </a:r>
              <a:endParaRPr lang="en-US" sz="1700" dirty="0"/>
            </a:p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Effective for large datasets.</a:t>
              </a:r>
              <a:endParaRPr lang="en-US" sz="1700" dirty="0"/>
            </a:p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Suitable for linked-list and external sorting.</a:t>
              </a:r>
              <a:endParaRPr lang="en-US" sz="17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317892" y="1560810"/>
              <a:ext cx="3555911" cy="3728343"/>
            </a:xfrm>
            <a:prstGeom prst="rect">
              <a:avLst/>
            </a:prstGeom>
            <a:solidFill>
              <a:srgbClr val="F6D96B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4546486" y="1806555"/>
              <a:ext cx="3098722" cy="408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2800" b="1" kern="100" spc="-56" dirty="0">
                  <a:solidFill>
                    <a:srgbClr val="000000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Limitations</a:t>
              </a:r>
              <a:endParaRPr lang="en-US" sz="2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46486" y="2452291"/>
              <a:ext cx="3098722" cy="2544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Requires O(n) auxiliary space in a conventional array implementation.</a:t>
              </a:r>
              <a:endParaRPr lang="en-US" sz="1700" dirty="0"/>
            </a:p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Not in-place in its standard array implementation.</a:t>
              </a:r>
              <a:endParaRPr lang="en-US" sz="1700" dirty="0"/>
            </a:p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000000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May have more overhead than simpler algorithms for small arrays.</a:t>
              </a:r>
              <a:endParaRPr lang="en-US" sz="17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178595" y="1560810"/>
              <a:ext cx="3555911" cy="3728343"/>
            </a:xfrm>
            <a:prstGeom prst="rect">
              <a:avLst/>
            </a:prstGeom>
            <a:solidFill>
              <a:srgbClr val="4D5B42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8407190" y="1806555"/>
              <a:ext cx="3098722" cy="408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2800" b="1" kern="100" spc="-56" dirty="0">
                  <a:solidFill>
                    <a:srgbClr val="FFFFFF"/>
                  </a:solidFill>
                  <a:latin typeface="Space Grotesk Bold" pitchFamily="34" charset="0"/>
                  <a:ea typeface="Space Grotesk Bold" pitchFamily="34" charset="-122"/>
                  <a:cs typeface="Space Grotesk Bold" pitchFamily="34" charset="-120"/>
                </a:rPr>
                <a:t>Applications</a:t>
              </a:r>
              <a:endParaRPr lang="en-US" sz="2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407190" y="2452291"/>
              <a:ext cx="3098722" cy="1638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External sorting of large files.</a:t>
              </a:r>
              <a:endParaRPr lang="en-US" sz="1700" dirty="0"/>
            </a:p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Linked-list sorting.</a:t>
              </a:r>
              <a:endParaRPr lang="en-US" sz="1700" dirty="0"/>
            </a:p>
            <a:p>
              <a:pPr marL="345440" indent="-345440" algn="l">
                <a:lnSpc>
                  <a:spcPct val="117000"/>
                </a:lnSpc>
                <a:buSzPct val="100000"/>
                <a:buChar char="•"/>
              </a:pPr>
              <a:r>
                <a:rPr lang="en-US" sz="1700" dirty="0">
                  <a:solidFill>
                    <a:srgbClr val="FFFFF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Stable sorting in data-processing systems.</a:t>
              </a:r>
              <a:endParaRPr lang="en-US" sz="17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11884918" y="6523633"/>
            <a:ext cx="306777" cy="211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0E7C3A-3668-3BF9-6C72-57B87B5F4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191" y="6423234"/>
            <a:ext cx="1537809" cy="3740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A4CDB4-D9C2-96F9-EFE1-E432088F6B05}"/>
              </a:ext>
            </a:extLst>
          </p:cNvPr>
          <p:cNvSpPr txBox="1"/>
          <p:nvPr/>
        </p:nvSpPr>
        <p:spPr>
          <a:xfrm>
            <a:off x="11711977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95F55C8-99E9-F43A-AA64-1736844A4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191" y="6423234"/>
            <a:ext cx="1537809" cy="3740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494" y="852381"/>
            <a:ext cx="1173450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kern="100" spc="150" dirty="0">
                <a:solidFill>
                  <a:schemeClr val="bg1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MERGE SORT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1311486"/>
            <a:ext cx="1127731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kern="100" spc="-100" dirty="0">
                <a:solidFill>
                  <a:srgbClr val="B8D8B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DIVIDE</a:t>
            </a:r>
            <a:r>
              <a:rPr lang="en-US" sz="5000" b="1" kern="100" spc="-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 </a:t>
            </a:r>
            <a:r>
              <a:rPr lang="en-US" sz="5000" b="1" kern="100" spc="-100" dirty="0">
                <a:solidFill>
                  <a:srgbClr val="F6D96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CONQUER</a:t>
            </a:r>
            <a:r>
              <a:rPr lang="en-US" sz="5000" b="1" kern="100" spc="-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 </a:t>
            </a:r>
            <a:r>
              <a:rPr lang="en-US" sz="5000" b="1" kern="100" spc="-100" dirty="0">
                <a:solidFill>
                  <a:srgbClr val="E94B5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COMBINE</a:t>
            </a:r>
            <a:r>
              <a:rPr lang="en-US" sz="5000" b="1" kern="100" spc="-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98829" y="2575286"/>
            <a:ext cx="8740627" cy="211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follows the divide-and-conquer paradigm.</a:t>
            </a:r>
            <a:endParaRPr lang="en-US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recursively divides, sorts and merges subarrays.</a:t>
            </a:r>
            <a:endParaRPr lang="en-US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guarantees O(n log n) time in the best, average and worst cases.</a:t>
            </a:r>
            <a:endParaRPr lang="en-US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stable when equal elements preserve their relative order.</a:t>
            </a:r>
            <a:endParaRPr lang="en-US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main trade-off in a conventional array implementation is additional memory.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28963" y="1177479"/>
            <a:ext cx="271099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“Divide the problem.          Conquer each part. Combine for the solution.”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923508" y="1136778"/>
            <a:ext cx="45719" cy="1201071"/>
          </a:xfrm>
          <a:prstGeom prst="roundRect">
            <a:avLst>
              <a:gd name="adj" fmla="val 50000"/>
            </a:avLst>
          </a:prstGeom>
          <a:solidFill>
            <a:srgbClr val="B8D8BA"/>
          </a:solidFill>
          <a:ln/>
        </p:spPr>
      </p:sp>
      <p:sp>
        <p:nvSpPr>
          <p:cNvPr id="7" name="Text 5"/>
          <p:cNvSpPr/>
          <p:nvPr/>
        </p:nvSpPr>
        <p:spPr>
          <a:xfrm>
            <a:off x="4757044" y="5034376"/>
            <a:ext cx="3248621" cy="787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400" b="1" kern="100" spc="-56" dirty="0">
                <a:solidFill>
                  <a:srgbClr val="A2CF5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YOU!</a:t>
            </a:r>
            <a:endParaRPr lang="en-US" sz="4400" dirty="0">
              <a:solidFill>
                <a:srgbClr val="A2CF5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770500" y="6383359"/>
            <a:ext cx="3767382" cy="40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150"/>
              </a:spcAft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94235" y="6523633"/>
            <a:ext cx="397460" cy="211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CE327E-524E-B301-6C0E-96C937C2BAB8}"/>
              </a:ext>
            </a:extLst>
          </p:cNvPr>
          <p:cNvSpPr txBox="1"/>
          <p:nvPr/>
        </p:nvSpPr>
        <p:spPr>
          <a:xfrm>
            <a:off x="11660192" y="89528"/>
            <a:ext cx="5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10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1320</Words>
  <Application>Microsoft Office PowerPoint</Application>
  <PresentationFormat>Widescreen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IBM Plex Sans SemiBold</vt:lpstr>
      <vt:lpstr>Space Grotesk Bold</vt:lpstr>
      <vt:lpstr>Consolas</vt:lpstr>
      <vt:lpstr>IBM Plex Sans</vt:lpstr>
      <vt:lpstr>IBM Plex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Sharad Dafale</dc:creator>
  <cp:lastModifiedBy>Sharad Dafale</cp:lastModifiedBy>
  <cp:revision>7</cp:revision>
  <dcterms:created xsi:type="dcterms:W3CDTF">2026-10-15T16:42:55Z</dcterms:created>
  <dcterms:modified xsi:type="dcterms:W3CDTF">2026-10-19T18:24:12Z</dcterms:modified>
</cp:coreProperties>
</file>